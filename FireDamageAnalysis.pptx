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Riley Anderson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2025-04-30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FIREDAM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15 residential fires</a:t>
            </a:r>
          </a:p>
          <a:p>
            <a:pPr lvl="0"/>
            <a:r>
              <a:rPr/>
              <a:t>Distance to nearest Fire Station miles</a:t>
            </a:r>
          </a:p>
          <a:p>
            <a:pPr lvl="0"/>
            <a:r>
              <a:rPr/>
              <a:t>Damage done $</a:t>
            </a:r>
          </a:p>
          <a:p>
            <a:pPr lvl="0"/>
            <a:r>
              <a:rPr/>
              <a:t>From MS</a:t>
            </a:r>
          </a:p>
        </p:txBody>
      </p:sp>
      <p:pic>
        <p:nvPicPr>
          <p:cNvPr descr="Notre Dame Fire  190415180215-notre-dame-ghiti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Notre Dame Fire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Question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Significant relationship Damage~Distance?</a:t>
            </a:r>
          </a:p>
          <a:p>
            <a:pPr lvl="0"/>
            <a:r>
              <a:rPr/>
              <a:t>Continuous and quantitative</a:t>
            </a:r>
          </a:p>
          <a:p>
            <a:pPr lvl="0"/>
            <a:r>
              <a:rPr/>
              <a:t>Applications to city planning</a:t>
            </a:r>
          </a:p>
        </p:txBody>
      </p:sp>
      <p:pic>
        <p:nvPicPr>
          <p:cNvPr descr="Suburban Fire  suburba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84200"/>
            <a:ext cx="51054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Residential Fire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Theory - Straight-Line Hypothesis</a:t>
            </a:r>
          </a:p>
        </p:txBody>
      </p:sp>
      <p:pic>
        <p:nvPicPr>
          <p:cNvPr descr="Project2Pr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and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ϵ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nor/>
                          <m:sty m:val="p"/>
                        </m:rPr>
                        <m:t> ( the mean of the error is 0)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ϵ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σ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nor/>
                          <m:sty m:val="p"/>
                        </m:rPr>
                        <m:t> (the variance of the error takes a constant value)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ϵ</m:t>
                      </m:r>
                      <m:r>
                        <m:rPr>
                          <m:sty m:val="p"/>
                        </m:rPr>
                        <m:t>∼</m:t>
                      </m:r>
                      <m:r>
                        <m:t>N</m:t>
                      </m:r>
                      <m:r>
                        <m:rPr>
                          <m:nor/>
                          <m:sty m:val="p"/>
                        </m:rPr>
                        <m:t> (the error is distributed normally)</m:t>
                      </m:r>
                    </m:oMath>
                  </m:oMathPara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ϵ</m:t>
                      </m:r>
                      <m:r>
                        <m:rPr>
                          <m:nor/>
                          <m:sty m:val="p"/>
                        </m:rPr>
                        <m:t> is independent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4.919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10.278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-Interpretation:</a:t>
                </a:r>
              </a:p>
              <a:p>
                <a:pPr lvl="0"/>
                <a:r>
                  <a:rPr/>
                  <a:t>Base of 10,278 dollars</a:t>
                </a:r>
              </a:p>
              <a:p>
                <a:pPr lvl="0"/>
                <a:r>
                  <a:rPr/>
                  <a:t>Increase of 4,919 dollars per mile</a:t>
                </a:r>
              </a:p>
              <a:p>
                <a:pPr lvl="0"/>
                <a:r>
                  <a:rPr/>
                  <a:t>Valid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endChr m:val=")"/>
                        <m:sepChr m:val=""/>
                        <m:grow/>
                      </m:dPr>
                      <m:e>
                        <m:r>
                          <m:t>0.7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6.1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Intervals of Parameter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95 % C.I.lower    95 % C.I.upper
## (Intercept)        7.20960          13.34625
## x                  4.07085           5.76781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 of fitted line and points</a:t>
            </a:r>
          </a:p>
        </p:txBody>
      </p:sp>
      <p:pic>
        <p:nvPicPr>
          <p:cNvPr descr="Project2Pres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Veryifing Our Assumptions - RSS</a:t>
            </a:r>
          </a:p>
        </p:txBody>
      </p:sp>
      <p:pic>
        <p:nvPicPr>
          <p:cNvPr descr="Project2Pres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MSS</a:t>
            </a:r>
          </a:p>
        </p:txBody>
      </p:sp>
      <p:pic>
        <p:nvPicPr>
          <p:cNvPr descr="Project2Pres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TSS</a:t>
            </a:r>
          </a:p>
        </p:txBody>
      </p:sp>
      <p:pic>
        <p:nvPicPr>
          <p:cNvPr descr="Project2Pres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Analyzing RSS, MSS, and TSS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-From theory,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M</m:t>
                        </m:r>
                        <m:r>
                          <m:t>S</m:t>
                        </m:r>
                        <m:r>
                          <m:t>S</m:t>
                        </m:r>
                      </m:num>
                      <m:den>
                        <m:r>
                          <m:t>T</m:t>
                        </m:r>
                        <m:r>
                          <m:t>S</m:t>
                        </m:r>
                        <m:r>
                          <m:t>S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mrsq </a:t>
                </a:r>
                <a:r>
                  <a:rPr>
                    <a:solidFill>
                      <a:srgbClr val="007020"/>
                    </a:solidFill>
                    <a:latin typeface="Courier"/>
                  </a:rPr>
                  <a:t>&lt;-</a:t>
                </a:r>
                <a:r>
                  <a:rPr>
                    <a:latin typeface="Courier"/>
                  </a:rPr>
                  <a:t> MSS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TSS</a:t>
                </a:r>
                <a:br/>
                <a:r>
                  <a:rPr>
                    <a:latin typeface="Courier"/>
                  </a:rPr>
                  <a:t>mrsq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## [1] 0.9234782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assumptions about error</a:t>
            </a:r>
          </a:p>
        </p:txBody>
      </p:sp>
      <p:pic>
        <p:nvPicPr>
          <p:cNvPr descr="Project2Pres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for signal in our residuals vs fitted values</a:t>
            </a:r>
          </a:p>
        </p:txBody>
      </p:sp>
      <p:pic>
        <p:nvPicPr>
          <p:cNvPr descr="Project2Pres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normality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We check the null hypothesis</a:t>
                </a:r>
              </a:p>
              <a:p>
                <a:pPr lvl="0" indent="0" marL="0">
                  <a:buNone/>
                </a:pPr>
                <a:r>
                  <a:rPr/>
                  <a:t>-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 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m:t>∼</m:t>
                          </m:r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iid</m:t>
                          </m:r>
                        </m:lim>
                      </m:limUpp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t> 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 </m:t>
                      </m:r>
                      <m:sSub>
                        <m:e>
                          <m:r>
                            <m:t>ϵ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box>
                        <m:boxPr>
                          <m:opEmu m:val="on"/>
                        </m:boxPr>
                        <m:e>
                          <m:r>
                            <m:rPr>
                              <m:sty m:val="p"/>
                            </m:rPr>
                            <m:t>≁</m:t>
                          </m:r>
                        </m:e>
                      </m:box>
                      <m:r>
                        <m:t>N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d>
                      <m:r>
                        <m:t> 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normality cont.</a:t>
            </a:r>
          </a:p>
        </p:txBody>
      </p:sp>
      <p:pic>
        <p:nvPicPr>
          <p:cNvPr descr="Project2Pres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Are errors independent?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Across length of time</a:t>
            </a:r>
          </a:p>
          <a:p>
            <a:pPr lvl="0"/>
            <a:r>
              <a:rPr/>
              <a:t>Randomly chosen geographically and time</a:t>
            </a:r>
          </a:p>
          <a:p>
            <a:pPr lvl="0"/>
            <a:r>
              <a:rPr/>
              <a:t>Could be fire-prone neighborhood bias</a:t>
            </a:r>
          </a:p>
          <a:p>
            <a:pPr lvl="0"/>
            <a:r>
              <a:rPr/>
              <a:t>Not enough evidence to say otherwise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Quadratic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lm(formula = y ~ x + I(x^2))
## 
## Residuals:
##     Min      1Q  Median      3Q     Max 
## -2.8856 -1.6915 -0.0179  1.5490  3.6278 
## 
## Coefficients:
##             Estimate Std. Error t value Pr(&gt;|t|)    
## (Intercept)  13.3395     2.5303   5.272 0.000197 ***
## x             2.6400     1.6302   1.619 0.131327    
## I(x^2)        0.3376     0.2349   1.437 0.176215    
## ---
## Signif. codes:  0 '***' 0.001 '**' 0.01 '*' 0.05 '.' 0.1 ' ' 1
## 
## Residual standard error: 2.227 on 12 degrees of freedom
## Multiple R-squared:  0.9347, Adjusted R-squared:  0.9238 
## F-statistic: 85.91 on 2 and 12 DF,  p-value: 7.742e-08</a:t>
            </a:r>
          </a:p>
        </p:txBody>
      </p:sp>
      <p:pic>
        <p:nvPicPr>
          <p:cNvPr descr="Project2Pres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Confidence Intervals for Quadratic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            95 % C.I.lower    95 % C.I.upper
## (Intercept)        7.82657          18.85247
## x                 -0.91199           6.19202
## I(x^2)            -0.17419           0.84933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for signal in residuals vs fitted values</a:t>
            </a:r>
          </a:p>
        </p:txBody>
      </p:sp>
      <p:pic>
        <p:nvPicPr>
          <p:cNvPr descr="Project2Pres_files/figure-pptx/unnamed-chunk-1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Checking normality</a:t>
            </a:r>
          </a:p>
        </p:txBody>
      </p:sp>
      <p:pic>
        <p:nvPicPr>
          <p:cNvPr descr="Project2Pres_files/figure-pptx/unnamed-chunk-1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(quad.lm)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0.9347158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(quad.lm)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adj.r.squared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0.9238351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(fire.lm)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0.9234782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(fire.lm)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adj.r.squared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0.9175919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Predicting damage based on our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linear.model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(x)</a:t>
            </a:r>
            <a:br/>
            <a:r>
              <a:rPr>
                <a:latin typeface="Courier"/>
              </a:rPr>
              <a:t>  {b0hat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b1hat </a:t>
            </a:r>
            <a:r>
              <a:rPr>
                <a:solidFill>
                  <a:srgbClr val="4070A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x}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linear.model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20.11659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linear.model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29.95525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linear.model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5.5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37.33425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Cook’s Distance</a:t>
            </a:r>
          </a:p>
        </p:txBody>
      </p:sp>
      <p:pic>
        <p:nvPicPr>
          <p:cNvPr descr="Project2Pres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Cook’s Distance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fire2.lm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(DAMAGE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DISTANCE, </a:t>
            </a:r>
            <a:r>
              <a:rPr>
                <a:solidFill>
                  <a:srgbClr val="7D9029"/>
                </a:solidFill>
                <a:latin typeface="Courier"/>
              </a:rPr>
              <a:t>data=</a:t>
            </a:r>
            <a:r>
              <a:rPr>
                <a:latin typeface="Courier"/>
              </a:rPr>
              <a:t>fire[</a:t>
            </a:r>
            <a:r>
              <a:rPr>
                <a:solidFill>
                  <a:srgbClr val="4070A0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latin typeface="Courier"/>
              </a:rPr>
              <a:t>,])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(fire2.lm)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0.905347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- Is There a Relationship?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-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0.9235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4.919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10.278</m:t>
                      </m:r>
                      <m:r>
                        <m:t> </m:t>
                      </m:r>
                      <m:r>
                        <m:rPr>
                          <m:sty m:val="p"/>
                        </m:rPr>
                        <m:t>∀</m:t>
                      </m:r>
                      <m:r>
                        <m:t> 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t>0.7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6.1</m:t>
                          </m:r>
                        </m:e>
                      </m:d>
                    </m:oMath>
                  </m:oMathPara>
                </a14:m>
              </a:p>
              <a:p>
                <a:pPr lvl="0"/>
                <a:r>
                  <a:rPr/>
                  <a:t>Improve with:</a:t>
                </a:r>
              </a:p>
              <a:p>
                <a:pPr lvl="0"/>
                <a:r>
                  <a:rPr/>
                  <a:t>Sample size</a:t>
                </a:r>
              </a:p>
              <a:p>
                <a:pPr lvl="0"/>
                <a:r>
                  <a:rPr/>
                  <a:t>Euclidean distance vs Roadside distance</a:t>
                </a:r>
              </a:p>
              <a:p>
                <a:pPr lvl="0"/>
                <a:r>
                  <a:rPr/>
                  <a:t>Multiple cites and suburbs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</dc:title>
  <dc:creator>Riley Anderson</dc:creator>
  <cp:keywords/>
  <dcterms:created xsi:type="dcterms:W3CDTF">2025-05-01T03:34:33Z</dcterms:created>
  <dcterms:modified xsi:type="dcterms:W3CDTF">2025-05-01T03:34:33Z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2025-04-30</vt:lpwstr>
  </property>
  <property fmtid="{D5CDD505-2E9C-101B-9397-08002B2CF9AE}" pid="3" name="output">
    <vt:lpwstr>powerpoint_presentation</vt:lpwstr>
  </property>
</Properties>
</file>